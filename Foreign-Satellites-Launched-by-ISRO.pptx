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115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5819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EA0B4-2B60-3740-23EF-CC34506F1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BEE782-4F9F-3585-4BFA-CAC8CD3EC7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D2D071-D20E-D19F-5D96-F47DBE9DB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6D9C4-6E1F-B9AD-2556-535495A3F4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2407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D1A4E-682C-DF4D-DC67-C69ED9D7A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16C346-FC9C-D5DC-A828-F95AF60CA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5F49F-1A03-8545-34CA-7899165F7A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DB0C29-ADF9-C215-E8B3-3692381D27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140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87" y="386406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20202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Foreign Satellites Launched by ISRO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86" y="547195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Arial" panose="020B0604020202020204" pitchFamily="34" charset="0"/>
                <a:ea typeface="Inter" pitchFamily="34" charset="-122"/>
                <a:cs typeface="Inter" pitchFamily="34" charset="-120"/>
              </a:rPr>
              <a:t>An Analytical Dashboard using Power BI</a:t>
            </a:r>
            <a:endParaRPr lang="en-US" sz="17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BE90C3-E028-7ED2-7DCB-88687BF353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86" y="846502"/>
            <a:ext cx="2829947" cy="28272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5569" y="1411605"/>
            <a:ext cx="7652861" cy="1331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020202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Understanding ISRO's Global Launch Footprint</a:t>
            </a:r>
            <a:endParaRPr lang="en-US" sz="4150" dirty="0"/>
          </a:p>
        </p:txBody>
      </p:sp>
      <p:sp>
        <p:nvSpPr>
          <p:cNvPr id="6" name="Text 3"/>
          <p:cNvSpPr/>
          <p:nvPr/>
        </p:nvSpPr>
        <p:spPr>
          <a:xfrm>
            <a:off x="745569" y="3049130"/>
            <a:ext cx="2662714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020202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The Need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745569" y="3455191"/>
            <a:ext cx="3566636" cy="157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Arial" panose="020B0604020202020204" pitchFamily="34" charset="0"/>
                <a:ea typeface="Inter" pitchFamily="34" charset="-122"/>
                <a:cs typeface="Inter" pitchFamily="34" charset="-120"/>
              </a:rPr>
              <a:t>ISRO has launched hundreds of satellites for foreign nations over two decades. Understanding this scale requires systematic analysis.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45569" y="4933641"/>
            <a:ext cx="3894164" cy="489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Arial" panose="020B0604020202020204" pitchFamily="34" charset="0"/>
                <a:ea typeface="Inter" pitchFamily="34" charset="-122"/>
                <a:cs typeface="Inter" pitchFamily="34" charset="-120"/>
              </a:rPr>
              <a:t>Multiple nations, diverse payloads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45568" y="5474220"/>
            <a:ext cx="3781275" cy="681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Arial" panose="020B0604020202020204" pitchFamily="34" charset="0"/>
                <a:ea typeface="Inter" pitchFamily="34" charset="-122"/>
                <a:cs typeface="Inter" pitchFamily="34" charset="-120"/>
              </a:rPr>
              <a:t>Complex launch vehicle portfolio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45569" y="5985355"/>
            <a:ext cx="3566636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Arial" panose="020B0604020202020204" pitchFamily="34" charset="0"/>
                <a:ea typeface="Inter" pitchFamily="34" charset="-122"/>
                <a:cs typeface="Inter" pitchFamily="34" charset="-120"/>
              </a:rPr>
              <a:t>Evolving commercial landscape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839414" y="3049130"/>
            <a:ext cx="2662714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020202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Objective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4831794" y="3472027"/>
            <a:ext cx="3566636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Arial" panose="020B0604020202020204" pitchFamily="34" charset="0"/>
                <a:ea typeface="Inter" pitchFamily="34" charset="-122"/>
                <a:cs typeface="Inter" pitchFamily="34" charset="-120"/>
              </a:rPr>
              <a:t>Build interactive insights to reveal: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31794" y="3904415"/>
            <a:ext cx="3566636" cy="681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Arial" panose="020B0604020202020204" pitchFamily="34" charset="0"/>
                <a:ea typeface="Inter" pitchFamily="34" charset="-122"/>
                <a:cs typeface="Inter" pitchFamily="34" charset="-120"/>
              </a:rPr>
              <a:t>Launch patterns and growth trends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839414" y="4694396"/>
            <a:ext cx="3566636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Arial" panose="020B0604020202020204" pitchFamily="34" charset="0"/>
                <a:ea typeface="Inter" pitchFamily="34" charset="-122"/>
                <a:cs typeface="Inter" pitchFamily="34" charset="-120"/>
              </a:rPr>
              <a:t>Global reach and partnerships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839414" y="5184219"/>
            <a:ext cx="3566636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Arial" panose="020B0604020202020204" pitchFamily="34" charset="0"/>
                <a:ea typeface="Inter" pitchFamily="34" charset="-122"/>
                <a:cs typeface="Inter" pitchFamily="34" charset="-120"/>
              </a:rPr>
              <a:t>Vehicle performance metrics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831794" y="5676352"/>
            <a:ext cx="3566636" cy="681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dirty="0">
                <a:solidFill>
                  <a:srgbClr val="383838"/>
                </a:solidFill>
                <a:latin typeface="Arial" panose="020B0604020202020204" pitchFamily="34" charset="0"/>
                <a:ea typeface="Inter" pitchFamily="34" charset="-122"/>
                <a:cs typeface="Inter" pitchFamily="34" charset="-120"/>
              </a:rPr>
              <a:t>Data-driven strategic intelligence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41350" y="686276"/>
            <a:ext cx="3963948" cy="49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600" b="1" dirty="0">
                <a:solidFill>
                  <a:srgbClr val="020202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Dataset Overview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6041350" y="1657231"/>
            <a:ext cx="8034099" cy="1174313"/>
          </a:xfrm>
          <a:prstGeom prst="roundRect">
            <a:avLst>
              <a:gd name="adj" fmla="val 9344"/>
            </a:avLst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6041350" y="1634371"/>
            <a:ext cx="8034099" cy="91440"/>
          </a:xfrm>
          <a:prstGeom prst="roundRect">
            <a:avLst>
              <a:gd name="adj" fmla="val 10000"/>
            </a:avLst>
          </a:prstGeom>
          <a:solidFill>
            <a:srgbClr val="E04F00"/>
          </a:solidFill>
          <a:ln/>
        </p:spPr>
      </p:sp>
      <p:sp>
        <p:nvSpPr>
          <p:cNvPr id="6" name="Shape 3"/>
          <p:cNvSpPr/>
          <p:nvPr/>
        </p:nvSpPr>
        <p:spPr>
          <a:xfrm>
            <a:off x="9820573" y="1419463"/>
            <a:ext cx="475655" cy="475655"/>
          </a:xfrm>
          <a:prstGeom prst="roundRect">
            <a:avLst>
              <a:gd name="adj" fmla="val 192240"/>
            </a:avLst>
          </a:prstGeom>
          <a:solidFill>
            <a:srgbClr val="E04F00"/>
          </a:solidFill>
          <a:ln/>
        </p:spPr>
      </p:sp>
      <p:sp>
        <p:nvSpPr>
          <p:cNvPr id="7" name="Text 4"/>
          <p:cNvSpPr/>
          <p:nvPr/>
        </p:nvSpPr>
        <p:spPr>
          <a:xfrm>
            <a:off x="9963210" y="1538407"/>
            <a:ext cx="190262" cy="237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1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222683" y="2053590"/>
            <a:ext cx="1981914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000" b="1" dirty="0">
                <a:solidFill>
                  <a:srgbClr val="383838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Source</a:t>
            </a:r>
            <a:endParaRPr lang="en-US" sz="2000" b="1" dirty="0"/>
          </a:p>
        </p:txBody>
      </p:sp>
      <p:sp>
        <p:nvSpPr>
          <p:cNvPr id="9" name="Text 6"/>
          <p:cNvSpPr/>
          <p:nvPr/>
        </p:nvSpPr>
        <p:spPr>
          <a:xfrm>
            <a:off x="6222683" y="2396490"/>
            <a:ext cx="7671435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Arial" panose="020B0604020202020204" pitchFamily="34" charset="0"/>
                <a:ea typeface="Inter" pitchFamily="34" charset="-122"/>
                <a:cs typeface="Inter" pitchFamily="34" charset="-120"/>
              </a:rPr>
              <a:t>Official ISRO foreign satellite launch records, validated and verified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6041350" y="3227784"/>
            <a:ext cx="8034099" cy="1174313"/>
          </a:xfrm>
          <a:prstGeom prst="roundRect">
            <a:avLst>
              <a:gd name="adj" fmla="val 9344"/>
            </a:avLst>
          </a:prstGeom>
          <a:noFill/>
          <a:ln/>
        </p:spPr>
      </p:sp>
      <p:sp>
        <p:nvSpPr>
          <p:cNvPr id="11" name="Shape 8"/>
          <p:cNvSpPr/>
          <p:nvPr/>
        </p:nvSpPr>
        <p:spPr>
          <a:xfrm>
            <a:off x="6041350" y="3204924"/>
            <a:ext cx="8034099" cy="91440"/>
          </a:xfrm>
          <a:prstGeom prst="roundRect">
            <a:avLst>
              <a:gd name="adj" fmla="val 10000"/>
            </a:avLst>
          </a:prstGeom>
          <a:solidFill>
            <a:srgbClr val="E04F00"/>
          </a:solidFill>
          <a:ln/>
        </p:spPr>
      </p:sp>
      <p:sp>
        <p:nvSpPr>
          <p:cNvPr id="12" name="Shape 9"/>
          <p:cNvSpPr/>
          <p:nvPr/>
        </p:nvSpPr>
        <p:spPr>
          <a:xfrm>
            <a:off x="9820573" y="2990017"/>
            <a:ext cx="475655" cy="475655"/>
          </a:xfrm>
          <a:prstGeom prst="roundRect">
            <a:avLst>
              <a:gd name="adj" fmla="val 192240"/>
            </a:avLst>
          </a:prstGeom>
          <a:solidFill>
            <a:srgbClr val="E04F00"/>
          </a:solidFill>
          <a:ln/>
        </p:spPr>
      </p:sp>
      <p:sp>
        <p:nvSpPr>
          <p:cNvPr id="13" name="Text 10"/>
          <p:cNvSpPr/>
          <p:nvPr/>
        </p:nvSpPr>
        <p:spPr>
          <a:xfrm>
            <a:off x="9986962" y="3072409"/>
            <a:ext cx="333019" cy="223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2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222683" y="3624143"/>
            <a:ext cx="1981914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b="1" dirty="0">
                <a:solidFill>
                  <a:srgbClr val="383838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Time Span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222683" y="3967043"/>
            <a:ext cx="7671435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Arial" panose="020B0604020202020204" pitchFamily="34" charset="0"/>
                <a:ea typeface="Inter" pitchFamily="34" charset="-122"/>
                <a:cs typeface="Inter" pitchFamily="34" charset="-120"/>
              </a:rPr>
              <a:t>1999–2025: Over 26 years of launch history</a:t>
            </a: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6041350" y="4798338"/>
            <a:ext cx="8034099" cy="1174313"/>
          </a:xfrm>
          <a:prstGeom prst="roundRect">
            <a:avLst>
              <a:gd name="adj" fmla="val 9344"/>
            </a:avLst>
          </a:prstGeom>
          <a:noFill/>
          <a:ln/>
        </p:spPr>
      </p:sp>
      <p:sp>
        <p:nvSpPr>
          <p:cNvPr id="17" name="Shape 14"/>
          <p:cNvSpPr/>
          <p:nvPr/>
        </p:nvSpPr>
        <p:spPr>
          <a:xfrm>
            <a:off x="6041350" y="4775478"/>
            <a:ext cx="8034099" cy="91440"/>
          </a:xfrm>
          <a:prstGeom prst="roundRect">
            <a:avLst>
              <a:gd name="adj" fmla="val 10000"/>
            </a:avLst>
          </a:prstGeom>
          <a:solidFill>
            <a:srgbClr val="E04F00"/>
          </a:solidFill>
          <a:ln/>
        </p:spPr>
      </p:sp>
      <p:sp>
        <p:nvSpPr>
          <p:cNvPr id="18" name="Shape 15"/>
          <p:cNvSpPr/>
          <p:nvPr/>
        </p:nvSpPr>
        <p:spPr>
          <a:xfrm>
            <a:off x="9820573" y="4560570"/>
            <a:ext cx="475655" cy="475655"/>
          </a:xfrm>
          <a:prstGeom prst="roundRect">
            <a:avLst>
              <a:gd name="adj" fmla="val 192240"/>
            </a:avLst>
          </a:prstGeom>
          <a:solidFill>
            <a:srgbClr val="E04F00"/>
          </a:solidFill>
          <a:ln/>
        </p:spPr>
      </p:sp>
      <p:sp>
        <p:nvSpPr>
          <p:cNvPr id="19" name="Text 16"/>
          <p:cNvSpPr/>
          <p:nvPr/>
        </p:nvSpPr>
        <p:spPr>
          <a:xfrm>
            <a:off x="9963210" y="4679513"/>
            <a:ext cx="190262" cy="237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3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6222683" y="5194697"/>
            <a:ext cx="1981914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b="1" dirty="0">
                <a:solidFill>
                  <a:srgbClr val="383838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Volume</a:t>
            </a: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222683" y="5537597"/>
            <a:ext cx="7671435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Arial" panose="020B0604020202020204" pitchFamily="34" charset="0"/>
                <a:ea typeface="Inter" pitchFamily="34" charset="-122"/>
                <a:cs typeface="Inter" pitchFamily="34" charset="-120"/>
              </a:rPr>
              <a:t>434 total satellites analyzed across all missions</a:t>
            </a: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6041350" y="6368891"/>
            <a:ext cx="8034099" cy="1174313"/>
          </a:xfrm>
          <a:prstGeom prst="roundRect">
            <a:avLst>
              <a:gd name="adj" fmla="val 9344"/>
            </a:avLst>
          </a:prstGeom>
          <a:solidFill>
            <a:srgbClr val="FFFFFF"/>
          </a:solidFill>
          <a:ln/>
        </p:spPr>
      </p:sp>
      <p:sp>
        <p:nvSpPr>
          <p:cNvPr id="23" name="Shape 20"/>
          <p:cNvSpPr/>
          <p:nvPr/>
        </p:nvSpPr>
        <p:spPr>
          <a:xfrm>
            <a:off x="6041350" y="6346031"/>
            <a:ext cx="8034099" cy="91440"/>
          </a:xfrm>
          <a:prstGeom prst="roundRect">
            <a:avLst>
              <a:gd name="adj" fmla="val 10000"/>
            </a:avLst>
          </a:prstGeom>
          <a:solidFill>
            <a:srgbClr val="E04F00"/>
          </a:solidFill>
          <a:ln/>
        </p:spPr>
      </p:sp>
      <p:sp>
        <p:nvSpPr>
          <p:cNvPr id="24" name="Shape 21"/>
          <p:cNvSpPr/>
          <p:nvPr/>
        </p:nvSpPr>
        <p:spPr>
          <a:xfrm>
            <a:off x="9820573" y="6131123"/>
            <a:ext cx="475655" cy="475655"/>
          </a:xfrm>
          <a:prstGeom prst="roundRect">
            <a:avLst>
              <a:gd name="adj" fmla="val 192240"/>
            </a:avLst>
          </a:prstGeom>
          <a:solidFill>
            <a:srgbClr val="E04F00"/>
          </a:solidFill>
          <a:ln/>
        </p:spPr>
      </p:sp>
      <p:sp>
        <p:nvSpPr>
          <p:cNvPr id="25" name="Text 22"/>
          <p:cNvSpPr/>
          <p:nvPr/>
        </p:nvSpPr>
        <p:spPr>
          <a:xfrm>
            <a:off x="9963210" y="6250067"/>
            <a:ext cx="190262" cy="2377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4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6222683" y="6765250"/>
            <a:ext cx="1981914" cy="247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b="1" dirty="0">
                <a:solidFill>
                  <a:srgbClr val="383838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Attributes</a:t>
            </a: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222683" y="7108150"/>
            <a:ext cx="7671435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Arial" panose="020B0604020202020204" pitchFamily="34" charset="0"/>
                <a:ea typeface="Inter" pitchFamily="34" charset="-122"/>
                <a:cs typeface="Inter" pitchFamily="34" charset="-120"/>
              </a:rPr>
              <a:t>Satellite names, Launch date, Country, Vehicle type, Payload mass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390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91183" y="3264575"/>
            <a:ext cx="8564166" cy="634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20202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Data Preparation &amp; Transformation</a:t>
            </a:r>
            <a:endParaRPr lang="en-US" sz="3950" dirty="0"/>
          </a:p>
        </p:txBody>
      </p:sp>
      <p:sp>
        <p:nvSpPr>
          <p:cNvPr id="4" name="Text 1"/>
          <p:cNvSpPr/>
          <p:nvPr/>
        </p:nvSpPr>
        <p:spPr>
          <a:xfrm>
            <a:off x="891183" y="4203978"/>
            <a:ext cx="203121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01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891183" y="4526280"/>
            <a:ext cx="6322338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6" name="Text 3"/>
          <p:cNvSpPr/>
          <p:nvPr/>
        </p:nvSpPr>
        <p:spPr>
          <a:xfrm>
            <a:off x="891183" y="4673560"/>
            <a:ext cx="2539008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3838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Standardization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891183" y="5112782"/>
            <a:ext cx="6322338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Arial" panose="020B0604020202020204" pitchFamily="34" charset="0"/>
                <a:ea typeface="Inter" pitchFamily="34" charset="-122"/>
                <a:cs typeface="Inter" pitchFamily="34" charset="-120"/>
              </a:rPr>
              <a:t>Unified country naming conventions across all records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416641" y="4203978"/>
            <a:ext cx="203121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02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7416641" y="4526280"/>
            <a:ext cx="6322457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0" name="Text 7"/>
          <p:cNvSpPr/>
          <p:nvPr/>
        </p:nvSpPr>
        <p:spPr>
          <a:xfrm>
            <a:off x="7416641" y="4673560"/>
            <a:ext cx="2539008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3838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Expansion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7416641" y="5112782"/>
            <a:ext cx="6322457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Arial" panose="020B0604020202020204" pitchFamily="34" charset="0"/>
                <a:ea typeface="Inter" pitchFamily="34" charset="-122"/>
                <a:cs typeface="Inter" pitchFamily="34" charset="-120"/>
              </a:rPr>
              <a:t>Converted satellite count ranges into individual records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891183" y="5793105"/>
            <a:ext cx="203121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03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891183" y="6115407"/>
            <a:ext cx="6322338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4" name="Text 11"/>
          <p:cNvSpPr/>
          <p:nvPr/>
        </p:nvSpPr>
        <p:spPr>
          <a:xfrm>
            <a:off x="891183" y="6262688"/>
            <a:ext cx="2539008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3838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Normalization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891183" y="6701909"/>
            <a:ext cx="6322338" cy="649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Arial" panose="020B0604020202020204" pitchFamily="34" charset="0"/>
                <a:ea typeface="Inter" pitchFamily="34" charset="-122"/>
                <a:cs typeface="Inter" pitchFamily="34" charset="-120"/>
              </a:rPr>
              <a:t>Resolved mixed payload formats and managed null values systematically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7416641" y="5793105"/>
            <a:ext cx="203121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Arial" panose="020B0604020202020204" pitchFamily="34" charset="0"/>
                <a:ea typeface="Inter Light" pitchFamily="34" charset="-122"/>
                <a:cs typeface="Arial" panose="020B0604020202020204" pitchFamily="34" charset="0"/>
              </a:rPr>
              <a:t>04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7416641" y="6115407"/>
            <a:ext cx="6322457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8" name="Text 15"/>
          <p:cNvSpPr/>
          <p:nvPr/>
        </p:nvSpPr>
        <p:spPr>
          <a:xfrm>
            <a:off x="7416641" y="6262688"/>
            <a:ext cx="2539008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83838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Validation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7416641" y="6701909"/>
            <a:ext cx="6322457" cy="324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Arial" panose="020B0604020202020204" pitchFamily="34" charset="0"/>
                <a:ea typeface="Inter" pitchFamily="34" charset="-122"/>
                <a:cs typeface="Inter" pitchFamily="34" charset="-120"/>
              </a:rPr>
              <a:t>Ensured data integrity with preserved satellite counts throughout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05614"/>
            <a:ext cx="681097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20202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Performance at a Glance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359953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383838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434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6280190" y="3299698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83838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Total Satellites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80190" y="3790117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Arial" panose="020B0604020202020204" pitchFamily="34" charset="0"/>
                <a:ea typeface="Inter" pitchFamily="34" charset="-122"/>
                <a:cs typeface="Inter" pitchFamily="34" charset="-120"/>
              </a:rPr>
              <a:t>Launched for foreign clients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893493" y="2313025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383838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37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8893493" y="3299698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83838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Countries Served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893493" y="3790117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Arial" panose="020B0604020202020204" pitchFamily="34" charset="0"/>
                <a:ea typeface="Inter" pitchFamily="34" charset="-122"/>
                <a:cs typeface="Inter" pitchFamily="34" charset="-120"/>
              </a:rPr>
              <a:t>Global reach established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1506795" y="2307610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383838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101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1506795" y="3299698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83838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Record Launch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506795" y="3790117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Arial" panose="020B0604020202020204" pitchFamily="34" charset="0"/>
                <a:ea typeface="Inter" pitchFamily="34" charset="-122"/>
                <a:cs typeface="Inter" pitchFamily="34" charset="-120"/>
              </a:rPr>
              <a:t>Max satellites in one day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6280129" y="5388768"/>
            <a:ext cx="36364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383838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38</a:t>
            </a:r>
            <a:endParaRPr lang="en-US" sz="5850" dirty="0"/>
          </a:p>
        </p:txBody>
      </p:sp>
      <p:sp>
        <p:nvSpPr>
          <p:cNvPr id="14" name="Text 11"/>
          <p:cNvSpPr/>
          <p:nvPr/>
        </p:nvSpPr>
        <p:spPr>
          <a:xfrm>
            <a:off x="6680716" y="62705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83838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Launch Vehicles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280190" y="6760964"/>
            <a:ext cx="36364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Arial" panose="020B0604020202020204" pitchFamily="34" charset="0"/>
                <a:ea typeface="Inter" pitchFamily="34" charset="-122"/>
                <a:cs typeface="Inter" pitchFamily="34" charset="-120"/>
              </a:rPr>
              <a:t>Unique SLV configurations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10200084" y="5323640"/>
            <a:ext cx="36365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383838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54K</a:t>
            </a:r>
            <a:endParaRPr lang="en-US" sz="5850" dirty="0"/>
          </a:p>
        </p:txBody>
      </p:sp>
      <p:sp>
        <p:nvSpPr>
          <p:cNvPr id="17" name="Text 14"/>
          <p:cNvSpPr/>
          <p:nvPr/>
        </p:nvSpPr>
        <p:spPr>
          <a:xfrm>
            <a:off x="10600730" y="62705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83838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Maximum Payload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0200084" y="6760964"/>
            <a:ext cx="36365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Arial" panose="020B0604020202020204" pitchFamily="34" charset="0"/>
                <a:ea typeface="Inter" pitchFamily="34" charset="-122"/>
                <a:cs typeface="Inter" pitchFamily="34" charset="-120"/>
              </a:rPr>
              <a:t>Kilograms in single mission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3202" y="394781"/>
            <a:ext cx="4625697" cy="447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3600" b="1" dirty="0">
                <a:solidFill>
                  <a:srgbClr val="020202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Launch Activity Over Time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123202" y="1094506"/>
            <a:ext cx="9057442" cy="229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Arial" panose="020B0604020202020204" pitchFamily="34" charset="0"/>
                <a:ea typeface="Inter" pitchFamily="34" charset="-122"/>
                <a:cs typeface="Inter" pitchFamily="34" charset="-120"/>
              </a:rPr>
              <a:t>Year-wise trends reveal ISRO's expanding commercial capabilities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2123201" y="5459017"/>
            <a:ext cx="5222814" cy="1502436"/>
          </a:xfrm>
          <a:prstGeom prst="roundRect">
            <a:avLst>
              <a:gd name="adj" fmla="val 843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471528" y="5750839"/>
            <a:ext cx="1789986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b="1" dirty="0">
                <a:solidFill>
                  <a:srgbClr val="383838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2017 Peak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2471528" y="6143847"/>
            <a:ext cx="4140398" cy="45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Arial" panose="020B0604020202020204" pitchFamily="34" charset="0"/>
                <a:ea typeface="Inter" pitchFamily="34" charset="-122"/>
                <a:cs typeface="Inter" pitchFamily="34" charset="-120"/>
              </a:rPr>
              <a:t>Record-breaking 158 satellites launched, showcasing unprecedented capacity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7489126" y="5459017"/>
            <a:ext cx="4874723" cy="1502436"/>
          </a:xfrm>
          <a:prstGeom prst="roundRect">
            <a:avLst>
              <a:gd name="adj" fmla="val 843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47480" y="5751593"/>
            <a:ext cx="1789986" cy="223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b="1" dirty="0">
                <a:solidFill>
                  <a:srgbClr val="383838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Post-2015 Growth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647480" y="6183112"/>
            <a:ext cx="4140518" cy="458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Arial" panose="020B0604020202020204" pitchFamily="34" charset="0"/>
                <a:ea typeface="Inter" pitchFamily="34" charset="-122"/>
                <a:cs typeface="Inter" pitchFamily="34" charset="-120"/>
              </a:rPr>
              <a:t>Dramatic acceleration in commercial missions reflects strategic expansion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B2A912A-1922-80C5-AC5B-B858C86E2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202" y="1839470"/>
            <a:ext cx="10240647" cy="34956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87648"/>
            <a:ext cx="691395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20202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Global Client Distribution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8959096" y="24634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020202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Market Leadership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959096" y="3044547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Arial" panose="020B0604020202020204" pitchFamily="34" charset="0"/>
                <a:ea typeface="Inter" pitchFamily="34" charset="-122"/>
                <a:cs typeface="Inter" pitchFamily="34" charset="-120"/>
              </a:rPr>
              <a:t>USA accounts for over 40% of all foreign satellites launched by ISRO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959096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020202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Diverse Portfolio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959096" y="4578310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Arial" panose="020B0604020202020204" pitchFamily="34" charset="0"/>
                <a:ea typeface="Inter" pitchFamily="34" charset="-122"/>
                <a:cs typeface="Inter" pitchFamily="34" charset="-120"/>
              </a:rPr>
              <a:t>37 nations trust ISRO's launch capabilities, from North America to Europe and Asia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959096" y="5530929"/>
            <a:ext cx="31039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solidFill>
                  <a:srgbClr val="020202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Strategic Partnerships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959096" y="6112073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Arial" panose="020B0604020202020204" pitchFamily="34" charset="0"/>
                <a:ea typeface="Inter" pitchFamily="34" charset="-122"/>
                <a:cs typeface="Inter" pitchFamily="34" charset="-120"/>
              </a:rPr>
              <a:t>Strong presence in advanced space markets demonstrates technical credibility</a:t>
            </a:r>
            <a:endParaRPr lang="en-US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9910384-C66A-ED94-378E-9001F2A1A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946" y="2463403"/>
            <a:ext cx="6553431" cy="43744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2717483" y="737592"/>
            <a:ext cx="5113496" cy="454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3600" b="1" dirty="0">
                <a:solidFill>
                  <a:srgbClr val="020202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Launch Vehicle Performance</a:t>
            </a:r>
            <a:endParaRPr lang="en-US" sz="3600" dirty="0"/>
          </a:p>
        </p:txBody>
      </p:sp>
      <p:sp>
        <p:nvSpPr>
          <p:cNvPr id="7" name="Shape 3"/>
          <p:cNvSpPr/>
          <p:nvPr/>
        </p:nvSpPr>
        <p:spPr>
          <a:xfrm>
            <a:off x="2738854" y="5628107"/>
            <a:ext cx="4524970" cy="1261110"/>
          </a:xfrm>
          <a:prstGeom prst="roundRect">
            <a:avLst>
              <a:gd name="adj" fmla="val 831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878098" y="5788721"/>
            <a:ext cx="1817251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b="1" dirty="0">
                <a:solidFill>
                  <a:srgbClr val="383838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PSLV Dominance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2878098" y="6102927"/>
            <a:ext cx="4203740" cy="465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Arial" panose="020B0604020202020204" pitchFamily="34" charset="0"/>
                <a:ea typeface="Inter" pitchFamily="34" charset="-122"/>
                <a:cs typeface="Inter" pitchFamily="34" charset="-120"/>
              </a:rPr>
              <a:t>Over 80% of foreign satellites launched on PSLV variants, proving reliability and cost-effectiveness</a:t>
            </a:r>
            <a:endParaRPr lang="en-US" dirty="0"/>
          </a:p>
        </p:txBody>
      </p:sp>
      <p:sp>
        <p:nvSpPr>
          <p:cNvPr id="10" name="Shape 6"/>
          <p:cNvSpPr/>
          <p:nvPr/>
        </p:nvSpPr>
        <p:spPr>
          <a:xfrm>
            <a:off x="7387828" y="5628106"/>
            <a:ext cx="4524970" cy="1248944"/>
          </a:xfrm>
          <a:prstGeom prst="roundRect">
            <a:avLst>
              <a:gd name="adj" fmla="val 831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548443" y="5788721"/>
            <a:ext cx="1817251" cy="22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b="1" dirty="0">
                <a:solidFill>
                  <a:srgbClr val="383838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Repeated Trust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7548443" y="6102927"/>
            <a:ext cx="4203740" cy="465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Arial" panose="020B0604020202020204" pitchFamily="34" charset="0"/>
                <a:ea typeface="Inter" pitchFamily="34" charset="-122"/>
                <a:cs typeface="Inter" pitchFamily="34" charset="-120"/>
              </a:rPr>
              <a:t>Multiple clients return for subsequent missions, indicating high satisfaction and mission success rates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3CE458A-33E5-7393-C492-DB6F283BF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9690" y="1352550"/>
            <a:ext cx="8684295" cy="398897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1856" y="959406"/>
            <a:ext cx="4013240" cy="501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020202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Strategic Insights</a:t>
            </a:r>
            <a:endParaRPr lang="en-US" sz="3150" dirty="0"/>
          </a:p>
        </p:txBody>
      </p:sp>
      <p:sp>
        <p:nvSpPr>
          <p:cNvPr id="4" name="Shape 1"/>
          <p:cNvSpPr/>
          <p:nvPr/>
        </p:nvSpPr>
        <p:spPr>
          <a:xfrm>
            <a:off x="561856" y="1701760"/>
            <a:ext cx="3929896" cy="2832259"/>
          </a:xfrm>
          <a:prstGeom prst="roundRect">
            <a:avLst>
              <a:gd name="adj" fmla="val 323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7592" y="1877497"/>
            <a:ext cx="481489" cy="481489"/>
          </a:xfrm>
          <a:prstGeom prst="roundRect">
            <a:avLst>
              <a:gd name="adj" fmla="val 18989189"/>
            </a:avLst>
          </a:prstGeom>
          <a:solidFill>
            <a:srgbClr val="E04F00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9990" y="2009775"/>
            <a:ext cx="216694" cy="2166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7592" y="2519482"/>
            <a:ext cx="2006560" cy="250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b="1" dirty="0">
                <a:solidFill>
                  <a:srgbClr val="383838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Global Leadership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37592" y="2866430"/>
            <a:ext cx="3578423" cy="513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Arial" panose="020B0604020202020204" pitchFamily="34" charset="0"/>
                <a:ea typeface="Inter" pitchFamily="34" charset="-122"/>
                <a:cs typeface="Inter" pitchFamily="34" charset="-120"/>
              </a:rPr>
              <a:t>ISRO established as world leader in cost-effective small satellite launches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37592" y="3476030"/>
            <a:ext cx="3578423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Arial" panose="020B0604020202020204" pitchFamily="34" charset="0"/>
                <a:ea typeface="Inter" pitchFamily="34" charset="-122"/>
                <a:cs typeface="Inter" pitchFamily="34" charset="-120"/>
              </a:rPr>
              <a:t>37 nations served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37592" y="3788807"/>
            <a:ext cx="3578423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Arial" panose="020B0604020202020204" pitchFamily="34" charset="0"/>
                <a:ea typeface="Inter" pitchFamily="34" charset="-122"/>
                <a:cs typeface="Inter" pitchFamily="34" charset="-120"/>
              </a:rPr>
              <a:t>Diverse payload capabilities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37592" y="4101584"/>
            <a:ext cx="3578423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Arial" panose="020B0604020202020204" pitchFamily="34" charset="0"/>
                <a:ea typeface="Inter" pitchFamily="34" charset="-122"/>
                <a:cs typeface="Inter" pitchFamily="34" charset="-120"/>
              </a:rPr>
              <a:t>Competitive pricing model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4652248" y="1701760"/>
            <a:ext cx="3929896" cy="2832259"/>
          </a:xfrm>
          <a:prstGeom prst="roundRect">
            <a:avLst>
              <a:gd name="adj" fmla="val 323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827984" y="1877497"/>
            <a:ext cx="481489" cy="481489"/>
          </a:xfrm>
          <a:prstGeom prst="roundRect">
            <a:avLst>
              <a:gd name="adj" fmla="val 18989189"/>
            </a:avLst>
          </a:prstGeom>
          <a:solidFill>
            <a:srgbClr val="E04F00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0382" y="2009775"/>
            <a:ext cx="216694" cy="21669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27984" y="2519482"/>
            <a:ext cx="2006560" cy="250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b="1" dirty="0">
                <a:solidFill>
                  <a:srgbClr val="383838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Vehicle Reliability</a:t>
            </a: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4827984" y="2866430"/>
            <a:ext cx="3578423" cy="513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Arial" panose="020B0604020202020204" pitchFamily="34" charset="0"/>
                <a:ea typeface="Inter" pitchFamily="34" charset="-122"/>
                <a:cs typeface="Inter" pitchFamily="34" charset="-120"/>
              </a:rPr>
              <a:t>PSLV emerges as the most trusted workhorse for foreign payloads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827984" y="3476030"/>
            <a:ext cx="3578423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Arial" panose="020B0604020202020204" pitchFamily="34" charset="0"/>
                <a:ea typeface="Inter" pitchFamily="34" charset="-122"/>
                <a:cs typeface="Inter" pitchFamily="34" charset="-120"/>
              </a:rPr>
              <a:t>Consistent performance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827984" y="3788807"/>
            <a:ext cx="3578423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Arial" panose="020B0604020202020204" pitchFamily="34" charset="0"/>
                <a:ea typeface="Inter" pitchFamily="34" charset="-122"/>
                <a:cs typeface="Inter" pitchFamily="34" charset="-120"/>
              </a:rPr>
              <a:t>Flexible configurations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4827984" y="4101584"/>
            <a:ext cx="3578423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Arial" panose="020B0604020202020204" pitchFamily="34" charset="0"/>
                <a:ea typeface="Inter" pitchFamily="34" charset="-122"/>
                <a:cs typeface="Inter" pitchFamily="34" charset="-120"/>
              </a:rPr>
              <a:t>Proven track record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561856" y="4694515"/>
            <a:ext cx="8020288" cy="2575560"/>
          </a:xfrm>
          <a:prstGeom prst="roundRect">
            <a:avLst>
              <a:gd name="adj" fmla="val 355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37592" y="4870252"/>
            <a:ext cx="481489" cy="481489"/>
          </a:xfrm>
          <a:prstGeom prst="roundRect">
            <a:avLst>
              <a:gd name="adj" fmla="val 18989189"/>
            </a:avLst>
          </a:prstGeom>
          <a:solidFill>
            <a:srgbClr val="E04F00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9990" y="5002530"/>
            <a:ext cx="216694" cy="21669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7592" y="5512237"/>
            <a:ext cx="2247424" cy="250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83838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Commercial </a:t>
            </a:r>
            <a:r>
              <a:rPr lang="en-US" b="1" dirty="0">
                <a:solidFill>
                  <a:srgbClr val="383838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Expansion</a:t>
            </a: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737592" y="5859185"/>
            <a:ext cx="7668816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Arial" panose="020B0604020202020204" pitchFamily="34" charset="0"/>
                <a:ea typeface="Inter" pitchFamily="34" charset="-122"/>
                <a:cs typeface="Inter" pitchFamily="34" charset="-120"/>
              </a:rPr>
              <a:t>Post-2015 surge signals strategic focus on commercial space services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737592" y="6212086"/>
            <a:ext cx="7668816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Arial" panose="020B0604020202020204" pitchFamily="34" charset="0"/>
                <a:ea typeface="Inter" pitchFamily="34" charset="-122"/>
                <a:cs typeface="Inter" pitchFamily="34" charset="-120"/>
              </a:rPr>
              <a:t>400% growth rate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737592" y="6524863"/>
            <a:ext cx="7668816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Arial" panose="020B0604020202020204" pitchFamily="34" charset="0"/>
                <a:ea typeface="Inter" pitchFamily="34" charset="-122"/>
                <a:cs typeface="Inter" pitchFamily="34" charset="-120"/>
              </a:rPr>
              <a:t>Market diversification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737592" y="6837640"/>
            <a:ext cx="7668816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Arial" panose="020B0604020202020204" pitchFamily="34" charset="0"/>
                <a:ea typeface="Inter" pitchFamily="34" charset="-122"/>
                <a:cs typeface="Inter" pitchFamily="34" charset="-120"/>
              </a:rPr>
              <a:t>Revenue generation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3130" y="530066"/>
            <a:ext cx="7889081" cy="600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4400" b="1" dirty="0">
                <a:solidFill>
                  <a:srgbClr val="020202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Conclusion</a:t>
            </a:r>
            <a:endParaRPr lang="en-US" sz="44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2214" y="1455795"/>
            <a:ext cx="5847398" cy="584739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B4DEB68-B56B-B505-A076-69A31494FDEE}"/>
              </a:ext>
            </a:extLst>
          </p:cNvPr>
          <p:cNvSpPr txBox="1"/>
          <p:nvPr/>
        </p:nvSpPr>
        <p:spPr>
          <a:xfrm>
            <a:off x="1237221" y="1660332"/>
            <a:ext cx="58473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ISRO has emerged as a global leader in foreign satellites launches, particularly in the small and medium satellite segment.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FF3A29-0684-8962-1F6C-8A10F75AC7B5}"/>
              </a:ext>
            </a:extLst>
          </p:cNvPr>
          <p:cNvSpPr txBox="1"/>
          <p:nvPr/>
        </p:nvSpPr>
        <p:spPr>
          <a:xfrm>
            <a:off x="1237221" y="3141159"/>
            <a:ext cx="58473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record launch of 101 foreign satellites in a single day demonstrates ISRO’s technical excellence and operational efficiency.</a:t>
            </a:r>
            <a:endParaRPr lang="en-IN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6EEE07-FC56-B1DF-CF13-A1823FB3B153}"/>
              </a:ext>
            </a:extLst>
          </p:cNvPr>
          <p:cNvSpPr txBox="1"/>
          <p:nvPr/>
        </p:nvSpPr>
        <p:spPr>
          <a:xfrm>
            <a:off x="1207086" y="4621986"/>
            <a:ext cx="58473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Consistent use of PSLV variants highlights reliability and cost-effectiveness, making ISRO a preferred launch partner worldwide.</a:t>
            </a:r>
            <a:endParaRPr lang="en-IN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286C3D9-E2B5-FC3E-01E6-FCE1D23B8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956F3BF-3343-60BE-87D1-21FE5A2DF4AD}"/>
              </a:ext>
            </a:extLst>
          </p:cNvPr>
          <p:cNvSpPr/>
          <p:nvPr/>
        </p:nvSpPr>
        <p:spPr>
          <a:xfrm>
            <a:off x="1233130" y="530066"/>
            <a:ext cx="7889081" cy="600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4400" b="1" dirty="0">
                <a:solidFill>
                  <a:srgbClr val="020202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Future Scope</a:t>
            </a:r>
            <a:endParaRPr lang="en-US" sz="4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C3FD02-3C71-0890-D67E-459DBD4B20CD}"/>
              </a:ext>
            </a:extLst>
          </p:cNvPr>
          <p:cNvSpPr txBox="1"/>
          <p:nvPr/>
        </p:nvSpPr>
        <p:spPr>
          <a:xfrm>
            <a:off x="1233130" y="1612232"/>
            <a:ext cx="5931567" cy="2800767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ISRO Perspective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Expand launch frequency to reduce customer waiting periods.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Develop reusable launch technologies to further reduce launch costs.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Strengthen private-sector collaboration under the Indian space ecosystem.</a:t>
            </a:r>
          </a:p>
          <a:p>
            <a:endParaRPr lang="en-IN" sz="2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817D1B3-5C87-9002-C0F5-8230E9BBF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129" y="4648035"/>
            <a:ext cx="12097859" cy="32206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6129357-0594-9865-883F-6AB41D741B36}"/>
              </a:ext>
            </a:extLst>
          </p:cNvPr>
          <p:cNvSpPr txBox="1"/>
          <p:nvPr/>
        </p:nvSpPr>
        <p:spPr>
          <a:xfrm>
            <a:off x="7399420" y="1612232"/>
            <a:ext cx="5931567" cy="2800767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Analytical Perspective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Include revenue and cost analysis for commercial launches.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Compare ISRO vs other global launch providers.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Integrate real-time launch data for live dashboards.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893884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958E204-0149-26FC-7E24-9CF755152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6B5280B-7F64-F54F-5CE3-076A95620379}"/>
              </a:ext>
            </a:extLst>
          </p:cNvPr>
          <p:cNvSpPr/>
          <p:nvPr/>
        </p:nvSpPr>
        <p:spPr>
          <a:xfrm>
            <a:off x="7315200" y="3814346"/>
            <a:ext cx="7889081" cy="600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5400" b="1" dirty="0">
                <a:solidFill>
                  <a:srgbClr val="020202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THANK YOU!</a:t>
            </a:r>
            <a:endParaRPr lang="en-US" sz="5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311625-9B86-E408-2D74-3BDF9182F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8071" y="0"/>
            <a:ext cx="5484077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338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508</Words>
  <Application>Microsoft Office PowerPoint</Application>
  <PresentationFormat>Custom</PresentationFormat>
  <Paragraphs>117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MAITREYA SALODKAR</cp:lastModifiedBy>
  <cp:revision>21</cp:revision>
  <dcterms:created xsi:type="dcterms:W3CDTF">2026-01-12T21:56:45Z</dcterms:created>
  <dcterms:modified xsi:type="dcterms:W3CDTF">2026-01-12T22:48:23Z</dcterms:modified>
</cp:coreProperties>
</file>